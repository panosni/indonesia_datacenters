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88952" cy="59436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</a:rPr>
              <a:t>  Indonesia Datacenter Fiscal Exposure — Key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3840480" cy="14173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33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</a:rPr>
              <a:t>Grand Total Fiscal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IDR 138.1T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62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USD 8.9B equivalent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32888"/>
            <a:ext cx="3840480" cy="14173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</a:rPr>
              <a:t>Portfolio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45 facilities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IDR 373.9T invested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05656"/>
            <a:ext cx="3840480" cy="14173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78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</a:rPr>
              <a:t>Pillar 2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531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12% of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017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IDR 16.8T (P2 in-scope)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960120"/>
            <a:ext cx="7068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</a:rPr>
              <a:t>Cost Breakdown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54880" y="1280160"/>
          <a:ext cx="706831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7571"/>
                <a:gridCol w="1555028"/>
                <a:gridCol w="1625711"/>
              </a:tblGrid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Instrument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IDR 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Tax Holiday (CIT)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118.2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Super Deduction (PP 78)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19.1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SEZ VAT Exemption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&lt;1%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Grand Total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138.1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754880" y="2971800"/>
            <a:ext cx="7068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</a:rPr>
              <a:t>Pillar 2 Split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754880" y="3291840"/>
          <a:ext cx="706831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7571"/>
                <a:gridCol w="1555028"/>
                <a:gridCol w="1625711"/>
              </a:tblGrid>
              <a:tr h="308610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IDR 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In scope (7% forfeited)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Not in scope (22% forfeited)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121.3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138.1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88952" cy="59436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</a:rPr>
              <a:t>  Fiscal Cost by Investment Tier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4031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3674"/>
                <a:gridCol w="582015"/>
                <a:gridCol w="1164031"/>
                <a:gridCol w="1280434"/>
                <a:gridCol w="1047628"/>
                <a:gridCol w="1047628"/>
                <a:gridCol w="1280434"/>
                <a:gridCol w="2444468"/>
              </a:tblGrid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Investment Tier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Inv. (IDR T)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Holiday (T)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SD (T)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VAT (T)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 (T)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Below IDR 100B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IDR 100B–500B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0.103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IDR 500B–1T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IDR 1T–5T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47.72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6.379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2.283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0.119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8.781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IDR 5T–15T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98.36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18.460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4.616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23.735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IDR 15T–30T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41.85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9.458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1.577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11.035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Above IDR 30T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182.90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83.737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10.468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94.205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373.95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118.234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19.065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0.796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138.095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263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6B"/>
                </a:solidFill>
              </a:rPr>
              <a:t>Top 5 individual exposures (IDR T): Microsoft Azure 47.3  ·  Google 22.5  ·  Equinix 13.4  ·  STT GDC 12.3  ·  Digital Realty 9.7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88952" cy="59436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</a:rPr>
              <a:t>  Key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9611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</a:rPr>
              <a:t>A.  Investment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</a:rPr>
              <a:t>Announced USD figures converted at USD/IDR 15,500. MW-based imputation used where monetary data absent (USD 1.5M/MW operational, USD 2M/MW planned).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89611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</a:rPr>
              <a:t>B. 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4300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</a:rPr>
              <a:t>Annual EBIT = 12% of total investment. Applied uniformly as a sector benchmark for fiscal cost computation.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5623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</a:rPr>
              <a:t>C.  Tax Holiday (PMK 69/2024)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</a:rPr>
              <a:t>CIT = 22%. Tiers: ≥IDR 100T → 20 yrs; IDR 30T–100T → 15 yrs; IDR 500B–30T → 10 yrs; IDR 100B–500B → 5 yrs; &lt;IDR 100B → 0 yrs. 50% reduction for 2-yr extensions where applicable.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5623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</a:rPr>
              <a:t>D.  BEPS Pillar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031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</a:rPr>
              <a:t>In scope: global group revenue &gt;€750M AND operating/EBITDA margin &gt;10%. GloBE minimum rate = 15%. P2 in-scope: Indonesia forfeits 7% (22%–15%). P2 out-of-scope: Indonesia forfeits full 22% (or 11% for 50%-reduction facilities).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1635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</a:rPr>
              <a:t>E.  Super Deduction (PP 78/2019)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06324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</a:rPr>
              <a:t>30% net income reduction over 6 years at 5%/yr. Applies after tax holiday ends. Data centres qualify under KBLI 63111. Fiscal cost = deduction × CIT-forfeited rate × 6 yrs. Annual deduction = 5% of investment.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1635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</a:rPr>
              <a:t>F.  SEZ VAT Exemption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06324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</a:rPr>
              <a:t>4 facilities in Nongsa Digital Park KEK (Batam). VAT cost = investment × 35% × 11% (PMK-131/2024: 12% × 11/12).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