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7160"/>
            <a:ext cx="12188952" cy="594360"/>
          </a:xfrm>
          <a:prstGeom prst="rect">
            <a:avLst/>
          </a:prstGeom>
          <a:solidFill>
            <a:srgbClr val="1B3A6B"/>
          </a:solidFill>
          <a:ln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</a:rPr>
              <a:t>  Indonesia Datacenter Fiscal Exposure — Key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60120"/>
            <a:ext cx="3840480" cy="141732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3327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3A6B"/>
                </a:solidFill>
              </a:rPr>
              <a:t>Grand Total Fiscal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759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IDR 138.1T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5623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</a:rPr>
              <a:t>USD 8.9B equivalent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532888"/>
            <a:ext cx="3840480" cy="141732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06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3A6B"/>
                </a:solidFill>
              </a:rPr>
              <a:t>Portfolio Covered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8036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45 facilities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</a:rPr>
              <a:t>IDR 373.9T invested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05656"/>
            <a:ext cx="3840480" cy="141732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1788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B3A6B"/>
                </a:solidFill>
              </a:rPr>
              <a:t>Pillar 2 Share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453128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12% of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017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</a:rPr>
              <a:t>IDR 16.8T (P2 in-scope)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960120"/>
            <a:ext cx="7068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3A6B"/>
                </a:solidFill>
              </a:rPr>
              <a:t>Cost Breakdown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754880" y="1280160"/>
          <a:ext cx="706831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7571"/>
                <a:gridCol w="1555028"/>
                <a:gridCol w="1625711"/>
              </a:tblGrid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</a:rPr>
                        <a:t>Instrument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IDR T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Share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Tax Holiday (CIT)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118.2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Super Deduction (PP 78)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19.1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SEZ VAT Exemption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&lt;1%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</a:rPr>
                        <a:t>Grand Total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138.1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754880" y="2971800"/>
            <a:ext cx="7068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3A6B"/>
                </a:solidFill>
              </a:rPr>
              <a:t>Pillar 2 Split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754880" y="3291840"/>
          <a:ext cx="706831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7571"/>
                <a:gridCol w="1555028"/>
                <a:gridCol w="1625711"/>
              </a:tblGrid>
              <a:tr h="30861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IDR T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Share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0861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In scope (7% forfeited)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Not in scope (22% forfeited)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121.3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861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138.1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7160"/>
            <a:ext cx="12188952" cy="594360"/>
          </a:xfrm>
          <a:prstGeom prst="rect">
            <a:avLst/>
          </a:prstGeom>
          <a:solidFill>
            <a:srgbClr val="1B3A6B"/>
          </a:solidFill>
          <a:ln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</a:rPr>
              <a:t>  Government Revenue Foregone — Annual Cost &amp; 20-Year Projection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05840"/>
          <a:ext cx="1145743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7229"/>
                <a:gridCol w="1947763"/>
                <a:gridCol w="1374891"/>
                <a:gridCol w="2520635"/>
                <a:gridCol w="2176914"/>
              </a:tblGrid>
              <a:tr h="51206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Incentive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Annual Cost (IDR T)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% of GDP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20-Year Total (IDR T)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Duration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Tax Holiday (CIT)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7.613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118.234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Up to 20 yrs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Super Deduction (PP 78)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3.174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0.014%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19.044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 yrs post-holiday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SEZ VAT Exemption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One-off (3-yr build)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Grand Total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11.052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0.050%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138.074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---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3794760"/>
            <a:ext cx="572871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B3A6B"/>
                </a:solidFill>
              </a:rPr>
              <a:t>Annual cost = sum across all facilities of
(investment × 12% × CIT-forfeited rate).
Tax Holiday run-rate = all active/committed holidays.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3624" y="3794760"/>
            <a:ext cx="5499567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B3A6B"/>
                </a:solidFill>
              </a:rPr>
              <a:t>Indonesia 2024 GDP = IDR 22,139T (BPS).
20-year totals cover full contractual periods,
not a uniform 20-year stream.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7160"/>
            <a:ext cx="12188952" cy="594360"/>
          </a:xfrm>
          <a:prstGeom prst="rect">
            <a:avLst/>
          </a:prstGeom>
          <a:solidFill>
            <a:srgbClr val="1B3A6B"/>
          </a:solidFill>
          <a:ln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</a:rPr>
              <a:t>  Fiscal Cost by Investment Tier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914400"/>
          <a:ext cx="11640312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3674"/>
                <a:gridCol w="582015"/>
                <a:gridCol w="1164031"/>
                <a:gridCol w="1280434"/>
                <a:gridCol w="1047628"/>
                <a:gridCol w="1047628"/>
                <a:gridCol w="1280434"/>
                <a:gridCol w="2444468"/>
              </a:tblGrid>
              <a:tr h="57912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</a:rPr>
                        <a:t>Investment Tier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Inv. (IDR T)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Holiday (T)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SD (T)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VAT (T)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Total (T)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Share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5791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Below IDR 100B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IDR 100B–500B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0.103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791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IDR 500B–1T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0.157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0.236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IDR 1T–5T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47.72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6.379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2.283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0.119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8.781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791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IDR 5T–15T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98.36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18.460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4.616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0.659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23.735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IDR 15T–30T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41.85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9.458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1.577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11.035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7912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Above IDR 30T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182.90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83.737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10.468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94.205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45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373.95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118.234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19.065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0.796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138.095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626364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B3A6B"/>
                </a:solidFill>
              </a:rPr>
              <a:t>Top 5 individual exposures (IDR T): Microsoft Azure 47.3  ·  Google 22.5  ·  Equinix 13.4  ·  STT GDC 12.3  ·  Digital Realty 9.7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7160"/>
            <a:ext cx="12188952" cy="594360"/>
          </a:xfrm>
          <a:prstGeom prst="rect">
            <a:avLst/>
          </a:prstGeom>
          <a:solidFill>
            <a:srgbClr val="1B3A6B"/>
          </a:solidFill>
          <a:ln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</a:rPr>
              <a:t>  Fiscal Scenarios: Cost Projections (A &amp; 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5577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3A6B"/>
                </a:solidFill>
              </a:rPr>
              <a:t>Scenario A — Expansion to 2,000 MW (2030)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7899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</a:rPr>
              <a:t>+1,474 MW from 526 MW base at IDR 111B/MW; 43% GMT / 57% non-GMT, 10-yr holiday.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371600"/>
          <a:ext cx="557784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6704"/>
                <a:gridCol w="2231136"/>
              </a:tblGrid>
              <a:tr h="26778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6778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</a:rPr>
                        <a:t>Baseline MW (operational)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</a:rPr>
                        <a:t>526 MW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778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</a:rPr>
                        <a:t>Baseline annual cost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</a:rPr>
                        <a:t>IDR 1.57T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778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</a:rPr>
                        <a:t>2030 annual cost (2,000 MW)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</a:rPr>
                        <a:t>IDR 4.62T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778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</a:rPr>
                        <a:t>% 2024 GDP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</a:rPr>
                        <a:t>0.021%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778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</a:rPr>
                        <a:t>% 2030 GDP (est.)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</a:rPr>
                        <a:t>0.014%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7791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</a:rPr>
                        <a:t>Scenario A cumulative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</a:rPr>
                        <a:t>IDR 53.2T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3364992"/>
            <a:ext cx="5577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3A6B"/>
                </a:solidFill>
              </a:rPr>
              <a:t>Scenario B — Expansion to 3,000 MW (2030)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602736"/>
            <a:ext cx="5577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</a:rPr>
              <a:t>+2,474 MW from 526 MW base; same mix and holiday as Scenario A.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3858768"/>
          <a:ext cx="55778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6704"/>
                <a:gridCol w="2231136"/>
              </a:tblGrid>
              <a:tr h="28346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8346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</a:rPr>
                        <a:t>2030 annual cost (3,000 MW)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</a:rPr>
                        <a:t>IDR 6.69T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</a:rPr>
                        <a:t>% 2024 GDP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</a:rPr>
                        <a:t>0.030%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8346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</a:rPr>
                        <a:t>% 2030 GDP (est.)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</a:rPr>
                        <a:t>0.020%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</a:rPr>
                        <a:t>Scenario B cumulative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</a:rPr>
                        <a:t>IDR 77.1T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841248"/>
            <a:ext cx="5577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3A6B"/>
                </a:solidFill>
              </a:rPr>
              <a:t>VAT / Import Duty (Universal Extension)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07899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</a:rPr>
              <a:t>Extend SEZ VAT (11%) + import duty waiver (2.5%) to all operators; 35% equipment share.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09360" y="1371600"/>
          <a:ext cx="55778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1394460"/>
                <a:gridCol w="1394460"/>
              </a:tblGrid>
              <a:tr h="28346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On A base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On B base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28346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</a:rPr>
                        <a:t>Equipment base (IDR 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</a:rPr>
                        <a:t>83.9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</a:rPr>
                        <a:t>122.7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</a:rPr>
                        <a:t>VAT (11%)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</a:rPr>
                        <a:t>9.2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</a:rPr>
                        <a:t>13.5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8346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</a:rPr>
                        <a:t>Import duty (2.5%)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</a:rPr>
                        <a:t>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</a:rPr>
                        <a:t>2.9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</a:rPr>
                        <a:t>VAT+Duty total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11.2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16.4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09360" y="2944368"/>
            <a:ext cx="5577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3A6B"/>
                </a:solidFill>
              </a:rPr>
              <a:t>Combined Summary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09360" y="3200400"/>
          <a:ext cx="55778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0476"/>
                <a:gridCol w="1338681"/>
                <a:gridCol w="1338681"/>
              </a:tblGrid>
              <a:tr h="304800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Ann. (IDR T)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Cum. (IDR T)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04800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</a:rPr>
                        <a:t>Baseline (526 MW)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</a:rPr>
                        <a:t>1.57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</a:rPr>
                        <a:t>18.1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</a:rPr>
                        <a:t>Scenario A (2,000 MW)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</a:rPr>
                        <a:t>4.62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</a:rPr>
                        <a:t>53.2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4800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</a:rPr>
                        <a:t>Scenario B (3,000 MW)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</a:rPr>
                        <a:t>6.69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</a:rPr>
                        <a:t>77.1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</a:rPr>
                        <a:t>Combined A + VAT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</a:rPr>
                        <a:t>8.40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</a:rPr>
                        <a:t>64.2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4800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</a:rPr>
                        <a:t>Combined B + VAT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12.22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93.3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309360" y="510235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CCCCC"/>
                </a:solidFill>
              </a:rPr>
              <a:t>Annual = peak CIT/yr + VAT÷3 yr. % 2030 GDP based on IDR 34,167T estimate.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7160"/>
            <a:ext cx="12188952" cy="594360"/>
          </a:xfrm>
          <a:prstGeom prst="rect">
            <a:avLst/>
          </a:prstGeom>
          <a:solidFill>
            <a:srgbClr val="1B3A6B"/>
          </a:solidFill>
          <a:ln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</a:rPr>
              <a:t>  Key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96112"/>
            <a:ext cx="5577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3A6B"/>
                </a:solidFill>
              </a:rPr>
              <a:t>A.  Investment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143000"/>
            <a:ext cx="5577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0000"/>
                </a:solidFill>
              </a:rPr>
              <a:t>Announced USD figures converted at USD/IDR 15,500. MW-based imputation used where monetary data absent (USD 1.5M/MW operational, USD 2M/MW planned).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896112"/>
            <a:ext cx="5577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3A6B"/>
                </a:solidFill>
              </a:rPr>
              <a:t>B.  Profitability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143000"/>
            <a:ext cx="5577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0000"/>
                </a:solidFill>
              </a:rPr>
              <a:t>Annual EBIT = 12% of total investment. Applied uniformly as a sector benchmark for fiscal cost computation.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856232"/>
            <a:ext cx="5577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3A6B"/>
                </a:solidFill>
              </a:rPr>
              <a:t>C.  Tax Holiday (PMK 69/2024)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103120"/>
            <a:ext cx="5577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0000"/>
                </a:solidFill>
              </a:rPr>
              <a:t>CIT = 22%. Tiers: ≥IDR 100T → 20 yrs; IDR 30T–100T → 15 yrs; IDR 500B–30T → 10 yrs; IDR 100B–500B → 5 yrs; &lt;IDR 100B → 0 yrs. 50% reduction for 2-yr extensions where applicable.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856232"/>
            <a:ext cx="5577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3A6B"/>
                </a:solidFill>
              </a:rPr>
              <a:t>D.  BEPS Pillar Two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103120"/>
            <a:ext cx="5577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0000"/>
                </a:solidFill>
              </a:rPr>
              <a:t>In scope: global group revenue &gt;€750M AND operating/EBITDA margin &gt;10%. GloBE minimum rate = 15%. P2 in-scope: Indonesia forfeits 7% (22%–15%). P2 out-of-scope: Indonesia forfeits full 22% (or 11% for 50%-reduction facilities).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816352"/>
            <a:ext cx="5577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3A6B"/>
                </a:solidFill>
              </a:rPr>
              <a:t>E.  Super Deduction (PP 78/2019)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063240"/>
            <a:ext cx="5577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0000"/>
                </a:solidFill>
              </a:rPr>
              <a:t>30% net income reduction over 6 years at 5%/yr. Applies after tax holiday ends. Data centres qualify under KBLI 63111. Fiscal cost = deduction × CIT-forfeited rate × 6 yrs. Annual deduction = 5% of investment.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816352"/>
            <a:ext cx="5577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3A6B"/>
                </a:solidFill>
              </a:rPr>
              <a:t>F.  SEZ VAT Exemption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063240"/>
            <a:ext cx="5577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0000"/>
                </a:solidFill>
              </a:rPr>
              <a:t>4 facilities in Nongsa Digital Park KEK (Batam). VAT cost = investment × 35% × 11% (PMK-131/2024: 12% × 11/12).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