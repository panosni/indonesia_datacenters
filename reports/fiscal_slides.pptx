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Indonesia Datacenter Fiscal Exposure — 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3840480" cy="141732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332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3A6B"/>
                </a:solidFill>
              </a:rPr>
              <a:t>Grand Total Fiscal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IDR 138.1T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5623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USD 8.9B equivalent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532888"/>
            <a:ext cx="3840480" cy="141732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3A6B"/>
                </a:solidFill>
              </a:rPr>
              <a:t>Portfolio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45 facilities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IDR 373.9T invested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05656"/>
            <a:ext cx="3840480" cy="141732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1788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3A6B"/>
                </a:solidFill>
              </a:rPr>
              <a:t>Pillar 2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5312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12% of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017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IDR 16.8T (P2 in-scope)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960120"/>
            <a:ext cx="7068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Cost Breakdown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0" y="1280160"/>
          <a:ext cx="706831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7571"/>
                <a:gridCol w="1555028"/>
                <a:gridCol w="1625711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Instrument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IDR 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Share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Tax Holiday (CIT)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Super Deduction (PP 78)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SEZ VAT Exemption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Grand 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138.1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754880" y="2971800"/>
            <a:ext cx="7068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Pillar 2 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754880" y="3291840"/>
          <a:ext cx="706831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7571"/>
                <a:gridCol w="1555028"/>
                <a:gridCol w="1625711"/>
              </a:tblGrid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IDR 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Share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In scope (7% forfeited)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Not in scope (22% forfeited)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121.3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138.1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Government Revenue Foregone — Annual Cost &amp; 20-Year Projection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5743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7229"/>
                <a:gridCol w="1947763"/>
                <a:gridCol w="1374891"/>
                <a:gridCol w="2520635"/>
                <a:gridCol w="2176914"/>
              </a:tblGrid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Incentive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Annual Cost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% of GDP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20-Year Total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Tax Holiday (CIT)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118.234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Up to 20 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Super Deduction (PP 78)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3.174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19.044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 yrs post-holiday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SEZ VAT Exemption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One-off (3-yr build)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Grand 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11.052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0.050%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138.074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---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3794760"/>
            <a:ext cx="57287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B3A6B"/>
                </a:solidFill>
              </a:rPr>
              <a:t>Annual cost = sum across all facilities of
(investment × 12% × CIT-forfeited rate).
Tax Holiday run-rate = all active/committed holidays.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3624" y="3794760"/>
            <a:ext cx="549956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B3A6B"/>
                </a:solidFill>
              </a:rPr>
              <a:t>Indonesia 2024 GDP = IDR 22,139T (BPS).
20-year totals cover full contractual periods,
not a uniform 20-year stream.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Fiscal Cost by Investment Tier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914400"/>
          <a:ext cx="11640312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674"/>
                <a:gridCol w="582015"/>
                <a:gridCol w="1164031"/>
                <a:gridCol w="1280434"/>
                <a:gridCol w="1047628"/>
                <a:gridCol w="1047628"/>
                <a:gridCol w="1280434"/>
                <a:gridCol w="2444468"/>
              </a:tblGrid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Investment Tier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Inv.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Holiday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SD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VAT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Total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Share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Below IDR 100B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100B–500B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500B–1T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1T–5T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47.72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6.379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2.283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8.781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5T–15T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23.735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15T–30T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9.458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1.577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11.035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Above IDR 30T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182.90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10.468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373.95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118.234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19.065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0.796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138.095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2636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B3A6B"/>
                </a:solidFill>
              </a:rPr>
              <a:t>Top 5 individual exposures (IDR T): Microsoft Azure 47.3  ·  Google 22.5  ·  Equinix 13.4  ·  STT GDC 12.3  ·  Digital Realty 9.7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Key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9611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A.  Investment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14300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Announced USD figures converted at USD/IDR 15,500. MW-based imputation used where monetary data absent (USD 1.5M/MW operational, USD 2M/MW planned).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9611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B.  Profitability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4300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Annual EBIT = 12% of total investment. Applied uniformly as a sector benchmark for fiscal cost computation.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85623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C.  Tax Holiday (PMK 69/2024)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CIT = 22%. Tiers: ≥IDR 100T → 20 yrs; IDR 30T–100T → 15 yrs; IDR 500B–30T → 10 yrs; IDR 100B–500B → 5 yrs; &lt;IDR 100B → 0 yrs. 50% reduction for 2-yr extensions where applicable.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5623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D.  BEPS Pillar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031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In scope: global group revenue &gt;€750M AND operating/EBITDA margin &gt;10%. GloBE minimum rate = 15%. P2 in-scope: Indonesia forfeits 7% (22%–15%). P2 out-of-scope: Indonesia forfeits full 22% (or 11% for 50%-reduction facilities).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81635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E.  Super Deduction (PP 78/2019)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06324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30% net income reduction over 6 years at 5%/yr. Applies after tax holiday ends. Data centres qualify under KBLI 63111. Fiscal cost = deduction × CIT-forfeited rate × 6 yrs. Annual deduction = 5% of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81635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F.  SEZ VAT Exemption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06324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4 facilities in Nongsa Digital Park KEK (Batam). VAT cost = investment × 35% × 11% (PMK-131/2024: 12% × 11/12).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